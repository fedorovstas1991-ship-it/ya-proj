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2743200"/>
          </a:xfrm>
          <a:prstGeom prst="rect">
            <a:avLst/>
          </a:prstGeom>
          <a:solidFill>
            <a:srgbClr val="F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3657600"/>
            <a:ext cx="4572000" cy="3657600"/>
          </a:xfrm>
          <a:prstGeom prst="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0448" y="22402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97757"/>
                </a:solidFill>
                <a:latin typeface="Inter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1915"/>
                </a:solidFill>
                <a:latin typeface="Inter"/>
              </a:rPr>
              <a:t>YAgent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6576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A8985"/>
                </a:solidFill>
                <a:latin typeface="Inter"/>
              </a:rPr>
              <a:t>Персональный AI-ассистент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2976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8985"/>
                </a:solidFill>
                <a:latin typeface="Inter"/>
              </a:rPr>
              <a:t>Скачай → Запусти → Работай с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985"/>
                </a:solidFill>
                <a:latin typeface="Inter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7757"/>
                </a:solidFill>
                <a:latin typeface="Inter"/>
              </a:rPr>
              <a:t>Шаг 1 из 2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1005840"/>
            <a:ext cx="5212080" cy="5029200"/>
          </a:xfrm>
          <a:solidFill>
            <a:srgbClr val="FFFFFF"/>
          </a:solidFill>
          <a:ln w="12700">
            <a:solidFill>
              <a:srgbClr val="E5E4E0"/>
            </a:solidFill>
          </a:ln>
          <a:prstGeom prst="roundRect">
            <a:avLst>
              <a:gd name="adj" fmla="val 12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0" y="12801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97757"/>
                </a:solidFill>
                <a:latin typeface="Inter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1915"/>
                </a:solidFill>
                <a:latin typeface="Inter"/>
              </a:rPr>
              <a:t>Добро пожаловать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8346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8985"/>
                </a:solidFill>
                <a:latin typeface="Inter"/>
              </a:rPr>
              <a:t>YAgent — ваш персональный AI-ассистент.
Запускается локально, работает с Claude.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931920"/>
            <a:ext cx="3383280" cy="594360"/>
          </a:xfrm>
          <a:solidFill>
            <a:srgbClr val="D97757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3931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Начать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985"/>
                </a:solidFill>
                <a:latin typeface="Inter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7757"/>
                </a:solidFill>
                <a:latin typeface="Inter"/>
              </a:rPr>
              <a:t>Шаг 2 из 2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914400"/>
            <a:ext cx="5760720" cy="5303520"/>
          </a:xfrm>
          <a:solidFill>
            <a:srgbClr val="FFFFFF"/>
          </a:solidFill>
          <a:ln w="12700">
            <a:solidFill>
              <a:srgbClr val="E5E4E0"/>
            </a:solidFill>
          </a:ln>
          <a:prstGeom prst="roundRect">
            <a:avLst>
              <a:gd name="adj" fmla="val 12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2801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915"/>
                </a:solidFill>
                <a:latin typeface="Inter"/>
              </a:rPr>
              <a:t>Введите API ключ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0116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985"/>
                </a:solidFill>
                <a:latin typeface="Inter"/>
              </a:rPr>
              <a:t>Anthropic API Key нужен для доступа к Claude.
Получить: console.anthropic.com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926080"/>
            <a:ext cx="4846320" cy="502920"/>
          </a:xfrm>
          <a:solidFill>
            <a:srgbClr val="F0EFEB"/>
          </a:solidFill>
          <a:ln w="12700">
            <a:solidFill>
              <a:srgbClr val="E5E4E0"/>
            </a:solidFill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29443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985"/>
                </a:solidFill>
                <a:latin typeface="Inter"/>
              </a:rPr>
              <a:t>sk-ant-api03-••••••••••••••••••••••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66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985"/>
                </a:solidFill>
                <a:latin typeface="Inter"/>
              </a:rPr>
              <a:t>🔒  Ключ хранится только локально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206240"/>
            <a:ext cx="3931920" cy="594360"/>
          </a:xfrm>
          <a:solidFill>
            <a:srgbClr val="D97757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20624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Сохранить и продолжить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985"/>
                </a:solidFill>
                <a:latin typeface="Inter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915"/>
                </a:solidFill>
                <a:latin typeface="Inter"/>
              </a:rPr>
              <a:t>Главный 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985"/>
                </a:solidFill>
                <a:latin typeface="Inter"/>
              </a:rPr>
              <a:t>Проекты (агенты) + Чаты (сессии)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40312" cy="5486400"/>
          </a:xfrm>
          <a:solidFill>
            <a:srgbClr val="FFFFFF"/>
          </a:solidFill>
          <a:ln w="12700">
            <a:solidFill>
              <a:srgbClr val="E5E4E0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640080" cy="5486400"/>
          </a:xfrm>
          <a:prstGeom prst="rect">
            <a:avLst/>
          </a:prstGeom>
          <a:solidFill>
            <a:srgbClr val="F0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985"/>
                </a:solidFill>
                <a:latin typeface="Inter"/>
              </a:rPr>
              <a:t>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985"/>
                </a:solidFill>
                <a:latin typeface="Inter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985"/>
                </a:solidFill>
                <a:latin typeface="Inter"/>
              </a:rP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985"/>
                </a:solidFill>
                <a:latin typeface="Inter"/>
              </a:rPr>
              <a:t>⚙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005840"/>
            <a:ext cx="2286000" cy="54864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8985"/>
                </a:solidFill>
                <a:latin typeface="Inter"/>
              </a:rPr>
              <a:t>Проекты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508760"/>
            <a:ext cx="2194560" cy="365760"/>
          </a:xfrm>
          <a:solidFill>
            <a:srgbClr val="F0EFEB"/>
          </a:solidFill>
          <a:ln w="12700">
            <a:solidFill>
              <a:srgbClr val="E5E4E0"/>
            </a:solidFill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5361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57"/>
                </a:solidFill>
                <a:latin typeface="Inter"/>
              </a:rPr>
              <a:t>+ Новый проект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011680"/>
            <a:ext cx="2194560" cy="502920"/>
          </a:xfrm>
          <a:solidFill>
            <a:srgbClr val="FFFFFF"/>
          </a:solidFill>
          <a:ln w="12700">
            <a:solidFill>
              <a:srgbClr val="E5E4E0"/>
            </a:solidFill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915"/>
                </a:solidFill>
                <a:latin typeface="Inter"/>
              </a:rPr>
              <a:t>🗂 Маркетинг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651760"/>
            <a:ext cx="2194560" cy="502920"/>
          </a:xfrm>
          <a:solidFill>
            <a:srgbClr val="FAFAF8"/>
          </a:solidFill>
          <a:ln>
            <a:noFill/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985"/>
                </a:solidFill>
                <a:latin typeface="Inter"/>
              </a:rPr>
              <a:t>🗂 Продажи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291840"/>
            <a:ext cx="2194560" cy="502920"/>
          </a:xfrm>
          <a:solidFill>
            <a:srgbClr val="FAFAF8"/>
          </a:solidFill>
          <a:ln>
            <a:noFill/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985"/>
                </a:solidFill>
                <a:latin typeface="Inter"/>
              </a:rPr>
              <a:t>🗂 Аналитика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005840"/>
            <a:ext cx="8714232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915"/>
                </a:solidFill>
                <a:latin typeface="Inter"/>
              </a:rPr>
              <a:t>Маркетинг / Чат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1645920"/>
            <a:ext cx="6400800" cy="640080"/>
          </a:xfrm>
          <a:solidFill>
            <a:srgbClr val="F0EFEB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171907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915"/>
                </a:solidFill>
                <a:latin typeface="Inter"/>
              </a:rPr>
              <a:t>👤 Привет! Нужна помощь с контент-планом.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423160"/>
            <a:ext cx="7315200" cy="777240"/>
          </a:xfrm>
          <a:solidFill>
            <a:srgbClr val="FDF0EB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46888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915"/>
                </a:solidFill>
                <a:latin typeface="Inter"/>
              </a:rPr>
              <a:t>🤖 Конечно! Вот структура контент-плана на месяц:
1. Анализ аудитории  2. Темы постов  3. Расписание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760720"/>
            <a:ext cx="8046720" cy="502920"/>
          </a:xfrm>
          <a:solidFill>
            <a:srgbClr val="F0EFEB"/>
          </a:solidFill>
          <a:ln w="12700">
            <a:solidFill>
              <a:srgbClr val="E5E4E0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57881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985"/>
                </a:solidFill>
                <a:latin typeface="Inter"/>
              </a:rPr>
              <a:t>Написать сообщение...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64240" y="5760720"/>
            <a:ext cx="502920" cy="502920"/>
          </a:xfrm>
          <a:solidFill>
            <a:srgbClr val="D97757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5760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985"/>
                </a:solidFill>
                <a:latin typeface="Inter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915"/>
                </a:solidFill>
                <a:latin typeface="Inter"/>
              </a:rPr>
              <a:t>Создание нового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6217920"/>
          </a:xfrm>
          <a:prstGeom prst="rect">
            <a:avLst/>
          </a:prstGeom>
          <a:solidFill>
            <a:srgbClr val="1A191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1645920"/>
            <a:ext cx="4480560" cy="3840480"/>
          </a:xfrm>
          <a:solidFill>
            <a:srgbClr val="FFFFFF"/>
          </a:solidFill>
          <a:ln>
            <a:noFill/>
          </a:ln>
          <a:prstGeom prst="roundRect">
            <a:avLst>
              <a:gd name="adj" fmla="val 14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915"/>
                </a:solidFill>
                <a:latin typeface="Inter"/>
              </a:rPr>
              <a:t>Новый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8985"/>
                </a:solidFill>
                <a:latin typeface="Inter"/>
              </a:rPr>
              <a:t>Название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788920"/>
            <a:ext cx="3566160" cy="411480"/>
          </a:xfrm>
          <a:solidFill>
            <a:srgbClr val="F0EFEB"/>
          </a:solidFill>
          <a:ln w="12700">
            <a:solidFill>
              <a:srgbClr val="E5E4E0"/>
            </a:solidFill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2816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985"/>
                </a:solidFill>
                <a:latin typeface="Inter"/>
              </a:rPr>
              <a:t>Например: Маркетинг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8985"/>
                </a:solidFill>
                <a:latin typeface="Inter"/>
              </a:rPr>
              <a:t>Описание (необязательно)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611880"/>
            <a:ext cx="3566160" cy="411480"/>
          </a:xfrm>
          <a:solidFill>
            <a:srgbClr val="F0EFEB"/>
          </a:solidFill>
          <a:ln w="12700">
            <a:solidFill>
              <a:srgbClr val="E5E4E0"/>
            </a:solidFill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36393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985"/>
                </a:solidFill>
                <a:latin typeface="Inter"/>
              </a:rPr>
              <a:t>Что делать в этом проекте...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4251960"/>
            <a:ext cx="1280160" cy="411480"/>
          </a:xfrm>
          <a:solidFill>
            <a:srgbClr val="F0EFEB"/>
          </a:solidFill>
          <a:ln w="12700">
            <a:solidFill>
              <a:srgbClr val="E5E4E0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42519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985"/>
                </a:solidFill>
                <a:latin typeface="Inter"/>
              </a:rPr>
              <a:t>Отмена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4251960"/>
            <a:ext cx="1463040" cy="411480"/>
          </a:xfrm>
          <a:solidFill>
            <a:srgbClr val="D97757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51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Создать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985"/>
                </a:solidFill>
                <a:latin typeface="Inter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915"/>
                </a:solidFill>
                <a:latin typeface="Inter"/>
              </a:rPr>
              <a:t>Чат внутри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985"/>
                </a:solidFill>
                <a:latin typeface="Inter"/>
              </a:rPr>
              <a:t>Каждый чат = отдельная сессия с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40312" cy="5486400"/>
          </a:xfrm>
          <a:solidFill>
            <a:srgbClr val="FFFFFF"/>
          </a:solidFill>
          <a:ln w="12700">
            <a:solidFill>
              <a:srgbClr val="E5E4E0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640080" cy="5486400"/>
          </a:xfrm>
          <a:prstGeom prst="rect">
            <a:avLst/>
          </a:prstGeom>
          <a:solidFill>
            <a:srgbClr val="F0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2286000" cy="54864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915"/>
                </a:solidFill>
                <a:latin typeface="Inter"/>
              </a:rPr>
              <a:t>Маркетинг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8985"/>
                </a:solidFill>
                <a:latin typeface="Inter"/>
              </a:rPr>
              <a:t>Чаты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874519"/>
            <a:ext cx="2194560" cy="347472"/>
          </a:xfrm>
          <a:solidFill>
            <a:srgbClr val="F0EFEB"/>
          </a:solidFill>
          <a:ln w="12700">
            <a:solidFill>
              <a:srgbClr val="E5E4E0"/>
            </a:solidFill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57"/>
                </a:solidFill>
                <a:latin typeface="Inter"/>
              </a:rPr>
              <a:t>+ Новый чат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331720"/>
            <a:ext cx="2194560" cy="438912"/>
          </a:xfrm>
          <a:solidFill>
            <a:srgbClr val="FFFFFF"/>
          </a:solidFill>
          <a:ln w="12700">
            <a:solidFill>
              <a:srgbClr val="E5E4E0"/>
            </a:solidFill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682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915"/>
                </a:solidFill>
                <a:latin typeface="Inter"/>
              </a:rPr>
              <a:t>💬 Контент-план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957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985"/>
                </a:solidFill>
                <a:latin typeface="Inter"/>
              </a:rPr>
              <a:t>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880360"/>
            <a:ext cx="2194560" cy="438912"/>
          </a:xfrm>
          <a:solidFill>
            <a:srgbClr val="FAFAF8"/>
          </a:solidFill>
          <a:ln>
            <a:noFill/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169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985"/>
                </a:solidFill>
                <a:latin typeface="Inter"/>
              </a:rPr>
              <a:t>💬 Email-рассылка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429000"/>
            <a:ext cx="2194560" cy="438912"/>
          </a:xfrm>
          <a:solidFill>
            <a:srgbClr val="FAFAF8"/>
          </a:solidFill>
          <a:ln>
            <a:noFill/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465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985"/>
                </a:solidFill>
                <a:latin typeface="Inter"/>
              </a:rPr>
              <a:t>💬 SMM стратегия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915"/>
                </a:solidFill>
                <a:latin typeface="Inter"/>
              </a:rPr>
              <a:t>Контент-план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097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985"/>
                </a:solidFill>
                <a:latin typeface="Inter"/>
              </a:rPr>
              <a:t>✕ Завершить чат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645920"/>
            <a:ext cx="7772400" cy="1005840"/>
          </a:xfrm>
          <a:solidFill>
            <a:srgbClr val="F0EFEB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6733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915"/>
                </a:solidFill>
                <a:latin typeface="Inter"/>
              </a:rPr>
              <a:t>👤 Вы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196596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915"/>
                </a:solidFill>
                <a:latin typeface="Inter"/>
              </a:rPr>
              <a:t>Составь контент-план на март для Instagram.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926080"/>
            <a:ext cx="7772400" cy="1005840"/>
          </a:xfrm>
          <a:solidFill>
            <a:srgbClr val="FDF0EB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953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57"/>
                </a:solidFill>
                <a:latin typeface="Inter"/>
              </a:rPr>
              <a:t>🤖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461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915"/>
                </a:solidFill>
                <a:latin typeface="Inter"/>
              </a:rPr>
              <a:t>Готово! Вот план на март:
• 1-7 марта: Знакомство с командой
• 8-15 марта: Кейсы клиентов
• 16-23: Советы и лайфхаки
• 24-31: Итоги месяца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760720"/>
            <a:ext cx="8046720" cy="502920"/>
          </a:xfrm>
          <a:solidFill>
            <a:srgbClr val="F0EFEB"/>
          </a:solidFill>
          <a:ln w="12700">
            <a:solidFill>
              <a:srgbClr val="E5E4E0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57881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985"/>
                </a:solidFill>
                <a:latin typeface="Inter"/>
              </a:rPr>
              <a:t>Продолжить...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64240" y="5760720"/>
            <a:ext cx="502920" cy="502920"/>
          </a:xfrm>
          <a:solidFill>
            <a:srgbClr val="D97757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5760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985"/>
                </a:solidFill>
                <a:latin typeface="Inter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AFAF8"/>
                </a:solidFill>
                <a:latin typeface="Inter"/>
              </a:rPr>
              <a:t>Тёмная 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5F5A"/>
                </a:solidFill>
                <a:latin typeface="Inter"/>
              </a:rPr>
              <a:t>Автоматически следует системным настройкам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40312" cy="5486400"/>
          </a:xfrm>
          <a:solidFill>
            <a:srgbClr val="1A1915"/>
          </a:solidFill>
          <a:ln w="12700">
            <a:solidFill>
              <a:srgbClr val="353430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640080" cy="5486400"/>
          </a:xfrm>
          <a:prstGeom prst="rect">
            <a:avLst/>
          </a:prstGeom>
          <a:solidFill>
            <a:srgbClr val="25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2286000" cy="5486400"/>
          </a:xfrm>
          <a:prstGeom prst="rect">
            <a:avLst/>
          </a:prstGeom>
          <a:solidFill>
            <a:srgbClr val="20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5F5A"/>
                </a:solidFill>
                <a:latin typeface="Inter"/>
              </a:rPr>
              <a:t>Проекты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645920"/>
            <a:ext cx="2194560" cy="502920"/>
          </a:xfrm>
          <a:solidFill>
            <a:srgbClr val="252420"/>
          </a:solidFill>
          <a:ln w="12700">
            <a:solidFill>
              <a:srgbClr val="353430"/>
            </a:solidFill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AF8"/>
                </a:solidFill>
                <a:latin typeface="Inter"/>
              </a:rPr>
              <a:t>🗂 Маркетинг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286000"/>
            <a:ext cx="2194560" cy="502920"/>
          </a:xfrm>
          <a:solidFill>
            <a:srgbClr val="201F1B"/>
          </a:solidFill>
          <a:ln>
            <a:noFill/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F5A"/>
                </a:solidFill>
                <a:latin typeface="Inter"/>
              </a:rPr>
              <a:t>🗂 Продажи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926080"/>
            <a:ext cx="2194560" cy="502920"/>
          </a:xfrm>
          <a:solidFill>
            <a:srgbClr val="201F1B"/>
          </a:solidFill>
          <a:ln>
            <a:noFill/>
          </a:ln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F5A"/>
                </a:solidFill>
                <a:latin typeface="Inter"/>
              </a:rPr>
              <a:t>🗂 Аналитика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AF8"/>
                </a:solidFill>
                <a:latin typeface="Inter"/>
              </a:rPr>
              <a:t>Контент-план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645920"/>
            <a:ext cx="7772400" cy="914400"/>
          </a:xfrm>
          <a:solidFill>
            <a:srgbClr val="252420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6733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AF8"/>
                </a:solidFill>
                <a:latin typeface="Inter"/>
              </a:rPr>
              <a:t>👤 Вы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938528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8"/>
                </a:solidFill>
                <a:latin typeface="Inter"/>
              </a:rPr>
              <a:t>Составь контент-план на март.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34640"/>
            <a:ext cx="7772400" cy="914400"/>
          </a:xfrm>
          <a:solidFill>
            <a:srgbClr val="2D1F15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57"/>
                </a:solidFill>
                <a:latin typeface="Inter"/>
              </a:rPr>
              <a:t>🤖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27248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8"/>
                </a:solidFill>
                <a:latin typeface="Inter"/>
              </a:rPr>
              <a:t>Готово! Вот план на март:
• 1-7: Знакомство с командой
• 8-15: Кейсы клиентов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5760720"/>
            <a:ext cx="8046720" cy="502920"/>
          </a:xfrm>
          <a:solidFill>
            <a:srgbClr val="252420"/>
          </a:solidFill>
          <a:ln w="12700">
            <a:solidFill>
              <a:srgbClr val="353430"/>
            </a:solidFill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57881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F5A"/>
                </a:solidFill>
                <a:latin typeface="Inter"/>
              </a:rPr>
              <a:t>Написать...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64240" y="5760720"/>
            <a:ext cx="502920" cy="502920"/>
          </a:xfrm>
          <a:solidFill>
            <a:srgbClr val="D97757"/>
          </a:solidFill>
          <a:ln>
            <a:noFill/>
          </a:ln>
          <a:prstGeom prst="roundRect">
            <a:avLst>
              <a:gd name="adj" fmla="val 8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5760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3F3B"/>
                </a:solidFill>
                <a:latin typeface="Inter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2743200"/>
          </a:xfrm>
          <a:prstGeom prst="rect">
            <a:avLst/>
          </a:prstGeom>
          <a:solidFill>
            <a:srgbClr val="F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3657600"/>
            <a:ext cx="4572000" cy="3657600"/>
          </a:xfrm>
          <a:prstGeom prst="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70448" y="1920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97757"/>
                </a:solidFill>
                <a:latin typeface="Inter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915"/>
                </a:solidFill>
                <a:latin typeface="Inter"/>
              </a:rPr>
              <a:t>Готово к разработке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474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8985"/>
                </a:solidFill>
                <a:latin typeface="Inter"/>
              </a:rPr>
              <a:t>Дизайн согласован. Запускаем.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8855"/>
                </a:solidFill>
                <a:latin typeface="Inter"/>
              </a:rPr>
              <a:t>✓  Редизайн в стиле 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553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8855"/>
                </a:solidFill>
                <a:latin typeface="Inter"/>
              </a:rPr>
              <a:t>✓  Управление проектами и чатами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9011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8855"/>
                </a:solidFill>
                <a:latin typeface="Inter"/>
              </a:rPr>
              <a:t>✓  Скрытое меню разработчика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248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8855"/>
                </a:solidFill>
                <a:latin typeface="Inter"/>
              </a:rPr>
              <a:t>✓  Hard Reset скрипт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5961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8855"/>
                </a:solidFill>
                <a:latin typeface="Inter"/>
              </a:rPr>
              <a:t>✓  Тёмная тема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8985"/>
                </a:solidFill>
                <a:latin typeface="Inter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